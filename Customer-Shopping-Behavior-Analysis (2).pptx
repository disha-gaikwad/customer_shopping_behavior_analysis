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Fira Sans"/>
      <p:regular r:id="rId201314"/>
    </p:embeddedFont>
    <p:embeddedFont>
      <p:font typeface="Fira Sans Bold"/>
      <p:regular r:id="rId201315"/>
    </p:embeddedFont>
    <p:embeddedFont>
      <p:font typeface="Fira Sans Black"/>
      <p:regular r:id="rId201316"/>
    </p:embeddedFont>
    <p:embeddedFont>
      <p:font typeface="Inconsolata"/>
      <p:regular r:id="rId201317"/>
    </p:embeddedFont>
    <p:embeddedFont>
      <p:font typeface="Inconsolata Black"/>
      <p:regular r:id="rId201318"/>
    </p:embeddedFont>
    <p:embeddedFont>
      <p:font typeface="Inconsolata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2.png"/><Relationship Id="rId7" Type="http://schemas.openxmlformats.org/officeDocument/2006/relationships/image" Target="../media/image-10-3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image" Target="../media/image-10-8.png"/><Relationship Id="rId11" Type="http://schemas.openxmlformats.org/officeDocument/2006/relationships/image" Target="../media/image-10-9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Analysis of 3,900 purchases to reveal spending patterns, segments, product preferences, and subscription behavior for strategic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8186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Dataset Snapshot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2037457"/>
            <a:ext cx="1479724" cy="1724099"/>
          </a:xfrm>
          <a:prstGeom prst="roundRect">
            <a:avLst>
              <a:gd name="adj" fmla="val 1437"/>
            </a:avLst>
          </a:prstGeom>
          <a:solidFill>
            <a:srgbClr val="433550"/>
          </a:solidFill>
          <a:ln/>
        </p:spPr>
      </p:sp>
      <p:sp>
        <p:nvSpPr>
          <p:cNvPr id="5" name="Text 2"/>
          <p:cNvSpPr/>
          <p:nvPr/>
        </p:nvSpPr>
        <p:spPr>
          <a:xfrm>
            <a:off x="637877" y="2179216"/>
            <a:ext cx="1196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Size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7877" y="2485727"/>
            <a:ext cx="1196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Rows: 3,900 • Columns: 18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117601" y="2037457"/>
            <a:ext cx="1479724" cy="1724099"/>
          </a:xfrm>
          <a:prstGeom prst="roundRect">
            <a:avLst>
              <a:gd name="adj" fmla="val 1437"/>
            </a:avLst>
          </a:prstGeom>
          <a:solidFill>
            <a:srgbClr val="433550"/>
          </a:solidFill>
          <a:ln/>
        </p:spPr>
      </p:sp>
      <p:sp>
        <p:nvSpPr>
          <p:cNvPr id="8" name="Text 5"/>
          <p:cNvSpPr/>
          <p:nvPr/>
        </p:nvSpPr>
        <p:spPr>
          <a:xfrm>
            <a:off x="2259360" y="2179216"/>
            <a:ext cx="1196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Key Features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259360" y="2485727"/>
            <a:ext cx="119620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Demographics, purchase details, behavior, subscription, shipping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739083" y="2037457"/>
            <a:ext cx="1479724" cy="1724099"/>
          </a:xfrm>
          <a:prstGeom prst="roundRect">
            <a:avLst>
              <a:gd name="adj" fmla="val 1437"/>
            </a:avLst>
          </a:prstGeom>
          <a:solidFill>
            <a:srgbClr val="433550"/>
          </a:solidFill>
          <a:ln/>
        </p:spPr>
      </p:sp>
      <p:sp>
        <p:nvSpPr>
          <p:cNvPr id="11" name="Text 8"/>
          <p:cNvSpPr/>
          <p:nvPr/>
        </p:nvSpPr>
        <p:spPr>
          <a:xfrm>
            <a:off x="3880842" y="2179216"/>
            <a:ext cx="1196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Missing Data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880842" y="2485727"/>
            <a:ext cx="1196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37 missing values in Review Rating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Data Preparation Highlights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1475408"/>
            <a:ext cx="146149" cy="91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AD1E6"/>
                </a:solidFill>
                <a:latin typeface="Inconsolata Light" pitchFamily="34" charset="0"/>
                <a:ea typeface="Inconsolata Light" pitchFamily="34" charset="-122"/>
                <a:cs typeface="Inconsolata Light" pitchFamily="34" charset="-120"/>
              </a:rPr>
              <a:t>01</a:t>
            </a:r>
            <a:endParaRPr lang="en-US" sz="550" dirty="0"/>
          </a:p>
        </p:txBody>
      </p:sp>
      <p:sp>
        <p:nvSpPr>
          <p:cNvPr id="5" name="Shape 2"/>
          <p:cNvSpPr/>
          <p:nvPr/>
        </p:nvSpPr>
        <p:spPr>
          <a:xfrm>
            <a:off x="4665911" y="1590005"/>
            <a:ext cx="3986733" cy="9525"/>
          </a:xfrm>
          <a:prstGeom prst="rect">
            <a:avLst/>
          </a:prstGeom>
          <a:solidFill>
            <a:srgbClr val="FF6680"/>
          </a:solidFill>
          <a:ln/>
        </p:spPr>
      </p:sp>
      <p:sp>
        <p:nvSpPr>
          <p:cNvPr id="6" name="Text 3"/>
          <p:cNvSpPr/>
          <p:nvPr/>
        </p:nvSpPr>
        <p:spPr>
          <a:xfrm>
            <a:off x="4665911" y="1645593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Cleaning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665911" y="1797472"/>
            <a:ext cx="398673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Imported with pandas; used df.info() and .describe()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4665911" y="1978447"/>
            <a:ext cx="146149" cy="91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AD1E6"/>
                </a:solidFill>
                <a:latin typeface="Inconsolata Light" pitchFamily="34" charset="0"/>
                <a:ea typeface="Inconsolata Light" pitchFamily="34" charset="-122"/>
                <a:cs typeface="Inconsolata Light" pitchFamily="34" charset="-120"/>
              </a:rPr>
              <a:t>02</a:t>
            </a:r>
            <a:endParaRPr lang="en-US" sz="550" dirty="0"/>
          </a:p>
        </p:txBody>
      </p:sp>
      <p:sp>
        <p:nvSpPr>
          <p:cNvPr id="9" name="Shape 6"/>
          <p:cNvSpPr/>
          <p:nvPr/>
        </p:nvSpPr>
        <p:spPr>
          <a:xfrm>
            <a:off x="4665911" y="2085752"/>
            <a:ext cx="3986733" cy="9525"/>
          </a:xfrm>
          <a:prstGeom prst="rect">
            <a:avLst/>
          </a:prstGeom>
          <a:solidFill>
            <a:srgbClr val="FF6680"/>
          </a:solidFill>
          <a:ln/>
        </p:spPr>
      </p:sp>
      <p:sp>
        <p:nvSpPr>
          <p:cNvPr id="10" name="Text 7"/>
          <p:cNvSpPr/>
          <p:nvPr/>
        </p:nvSpPr>
        <p:spPr>
          <a:xfrm>
            <a:off x="4665911" y="2148632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Imputation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665911" y="2300511"/>
            <a:ext cx="398673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Filled Review Rating nulls with category median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4665911" y="2481486"/>
            <a:ext cx="146149" cy="91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AD1E6"/>
                </a:solidFill>
                <a:latin typeface="Inconsolata Light" pitchFamily="34" charset="0"/>
                <a:ea typeface="Inconsolata Light" pitchFamily="34" charset="-122"/>
                <a:cs typeface="Inconsolata Light" pitchFamily="34" charset="-120"/>
              </a:rPr>
              <a:t>03</a:t>
            </a:r>
            <a:endParaRPr lang="en-US" sz="550" dirty="0"/>
          </a:p>
        </p:txBody>
      </p:sp>
      <p:sp>
        <p:nvSpPr>
          <p:cNvPr id="13" name="Shape 10"/>
          <p:cNvSpPr/>
          <p:nvPr/>
        </p:nvSpPr>
        <p:spPr>
          <a:xfrm>
            <a:off x="4665911" y="2581498"/>
            <a:ext cx="3986733" cy="9525"/>
          </a:xfrm>
          <a:prstGeom prst="rect">
            <a:avLst/>
          </a:prstGeom>
          <a:solidFill>
            <a:srgbClr val="FF6680"/>
          </a:solidFill>
          <a:ln/>
        </p:spPr>
      </p:sp>
      <p:sp>
        <p:nvSpPr>
          <p:cNvPr id="14" name="Text 11"/>
          <p:cNvSpPr/>
          <p:nvPr/>
        </p:nvSpPr>
        <p:spPr>
          <a:xfrm>
            <a:off x="4665911" y="2651671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Standardization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665911" y="2803550"/>
            <a:ext cx="398673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Renamed columns to snake_case</a:t>
            </a:r>
            <a:endParaRPr lang="en-US" sz="550" dirty="0"/>
          </a:p>
        </p:txBody>
      </p:sp>
      <p:sp>
        <p:nvSpPr>
          <p:cNvPr id="16" name="Text 13"/>
          <p:cNvSpPr/>
          <p:nvPr/>
        </p:nvSpPr>
        <p:spPr>
          <a:xfrm>
            <a:off x="4665911" y="2984525"/>
            <a:ext cx="146149" cy="91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AD1E6"/>
                </a:solidFill>
                <a:latin typeface="Inconsolata Light" pitchFamily="34" charset="0"/>
                <a:ea typeface="Inconsolata Light" pitchFamily="34" charset="-122"/>
                <a:cs typeface="Inconsolata Light" pitchFamily="34" charset="-120"/>
              </a:rPr>
              <a:t>04</a:t>
            </a:r>
            <a:endParaRPr lang="en-US" sz="550" dirty="0"/>
          </a:p>
        </p:txBody>
      </p:sp>
      <p:sp>
        <p:nvSpPr>
          <p:cNvPr id="17" name="Shape 14"/>
          <p:cNvSpPr/>
          <p:nvPr/>
        </p:nvSpPr>
        <p:spPr>
          <a:xfrm>
            <a:off x="4665911" y="3077245"/>
            <a:ext cx="3986733" cy="9525"/>
          </a:xfrm>
          <a:prstGeom prst="rect">
            <a:avLst/>
          </a:prstGeom>
          <a:solidFill>
            <a:srgbClr val="FF6680"/>
          </a:solidFill>
          <a:ln/>
        </p:spPr>
      </p:sp>
      <p:sp>
        <p:nvSpPr>
          <p:cNvPr id="18" name="Text 15"/>
          <p:cNvSpPr/>
          <p:nvPr/>
        </p:nvSpPr>
        <p:spPr>
          <a:xfrm>
            <a:off x="4665911" y="3154710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Feature Engineering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665911" y="3306589"/>
            <a:ext cx="398673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Created age_group and purchase_frequency_days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4665911" y="3487564"/>
            <a:ext cx="146149" cy="91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AD1E6"/>
                </a:solidFill>
                <a:latin typeface="Inconsolata Light" pitchFamily="34" charset="0"/>
                <a:ea typeface="Inconsolata Light" pitchFamily="34" charset="-122"/>
                <a:cs typeface="Inconsolata Light" pitchFamily="34" charset="-120"/>
              </a:rPr>
              <a:t>05</a:t>
            </a:r>
            <a:endParaRPr lang="en-US" sz="550" dirty="0"/>
          </a:p>
        </p:txBody>
      </p:sp>
      <p:sp>
        <p:nvSpPr>
          <p:cNvPr id="21" name="Shape 18"/>
          <p:cNvSpPr/>
          <p:nvPr/>
        </p:nvSpPr>
        <p:spPr>
          <a:xfrm>
            <a:off x="4665911" y="3572991"/>
            <a:ext cx="3986733" cy="9525"/>
          </a:xfrm>
          <a:prstGeom prst="rect">
            <a:avLst/>
          </a:prstGeom>
          <a:solidFill>
            <a:srgbClr val="FF6680"/>
          </a:solidFill>
          <a:ln/>
        </p:spPr>
      </p:sp>
      <p:sp>
        <p:nvSpPr>
          <p:cNvPr id="22" name="Text 19"/>
          <p:cNvSpPr/>
          <p:nvPr/>
        </p:nvSpPr>
        <p:spPr>
          <a:xfrm>
            <a:off x="4665911" y="3657749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Deduplication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665911" y="3809628"/>
            <a:ext cx="398673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Dropped promo_code_used as redundant with discount_applied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33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Database Integration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2396282"/>
            <a:ext cx="517758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Cleaned DataFrame loaded into PostgreSQL to run business queries and support dashboard metrics.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474988" y="2977455"/>
            <a:ext cx="5177582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Enabled SQL-level aggregation and segmentation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Faster reporting and reproducible analyses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62906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Male customers generated higher total revenue in the dataset. Use gendered insights to refine promotions and product mixes.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6212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Top Products &amp; Discount Patterns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88629"/>
            <a:ext cx="877193" cy="8771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0491" y="1888629"/>
            <a:ext cx="29328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Top Rated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550491" y="2195140"/>
            <a:ext cx="2932881" cy="1786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Gloves 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Sandals 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Boots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Hat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Skirt 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highest average ratings (≈3.78–3.86)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553" y="1888629"/>
            <a:ext cx="877193" cy="87719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4926" y="1888629"/>
            <a:ext cx="293295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Discount-Dependent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714926" y="2195140"/>
            <a:ext cx="2932956" cy="1474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Hat (50%)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Sneakers (49.66%)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Coat (49.07%)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Sweater (48.17%)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Pants (47.37%) show high discount rates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Subscribers vs Non-Subscribers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62906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Avg spend: Subscribers $59.49 (total revenue $62,645) vs Non-subscribers $59.87 (total $170,436). Opportunity: increase subscriber conversion and ARPU.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749701" y="2302818"/>
            <a:ext cx="3902943" cy="779562"/>
          </a:xfrm>
          <a:prstGeom prst="roundRect">
            <a:avLst>
              <a:gd name="adj" fmla="val 2728"/>
            </a:avLst>
          </a:prstGeom>
          <a:solidFill>
            <a:srgbClr val="7B0448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513112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0398" y="2465784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Subscribers comprise 27% of customers (dashboard donut)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6951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Customer Segments &amp; Repeat Behavior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096021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62756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Loyal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934072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3,116 customers — majority of the base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096021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62756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New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934072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83 customers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2096021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62756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Returning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934072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701 customers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96119" y="3320355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Repeat buyers with &gt;5 purchases show higher subscription likelihood; reward programs can convert more repeat buyers to subscribers.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5906"/>
            <a:ext cx="8151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Age &amp; Shipping Insights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94048"/>
            <a:ext cx="5196483" cy="32805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89216" y="1081832"/>
            <a:ext cx="2663354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Express shipping purchases have slightly higher average purchase amount ($60.48) than Standard ($58.46). Target marketing toward high-revenue age groups and express-shipping users.</a:t>
            </a:r>
            <a:endParaRPr lang="en-US" sz="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216" y="1900758"/>
            <a:ext cx="2663354" cy="26633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9649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Dashboard Snapshot &amp; Recommendations</a:t>
            </a:r>
            <a:endParaRPr lang="en-US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799" y="2217762"/>
            <a:ext cx="2383929" cy="128401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63677" y="1116657"/>
            <a:ext cx="1651992" cy="17828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63553" y="1259384"/>
            <a:ext cx="1309390" cy="401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Boost Subscriptions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3663553" y="1777157"/>
            <a:ext cx="1309390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Promote exclusive subscriber benefits to increase conversion.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2053" y="1116657"/>
            <a:ext cx="1652067" cy="178288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31929" y="1259384"/>
            <a:ext cx="130946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Loyalty Programs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5431929" y="1576462"/>
            <a:ext cx="1309464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Reward repeat buyers to grow the Loyal segment.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00503" y="1116657"/>
            <a:ext cx="1652067" cy="178288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200379" y="1259384"/>
            <a:ext cx="1309464" cy="401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Review Discount Policy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7200379" y="1777157"/>
            <a:ext cx="1309464" cy="9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Balance discount-driven sales with margin control for discount-dependent products.</a:t>
            </a:r>
            <a:endParaRPr lang="en-US" sz="10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63677" y="3015928"/>
            <a:ext cx="1651992" cy="158695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663553" y="3158654"/>
            <a:ext cx="1309390" cy="401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Product Positioning</a:t>
            </a:r>
            <a:endParaRPr lang="en-US" sz="1250" dirty="0"/>
          </a:p>
        </p:txBody>
      </p:sp>
      <p:sp>
        <p:nvSpPr>
          <p:cNvPr id="15" name="Text 8"/>
          <p:cNvSpPr/>
          <p:nvPr/>
        </p:nvSpPr>
        <p:spPr>
          <a:xfrm>
            <a:off x="3663553" y="3676427"/>
            <a:ext cx="1309390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Feature top-rated and best-selling items in campaigns.</a:t>
            </a:r>
            <a:endParaRPr lang="en-US" sz="10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32053" y="3015928"/>
            <a:ext cx="1652067" cy="158695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431929" y="3158654"/>
            <a:ext cx="1309464" cy="401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Targeted Marketing</a:t>
            </a:r>
            <a:endParaRPr lang="en-US" sz="1250" dirty="0"/>
          </a:p>
        </p:txBody>
      </p:sp>
      <p:sp>
        <p:nvSpPr>
          <p:cNvPr id="18" name="Text 10"/>
          <p:cNvSpPr/>
          <p:nvPr/>
        </p:nvSpPr>
        <p:spPr>
          <a:xfrm>
            <a:off x="5431929" y="3676427"/>
            <a:ext cx="1309464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Focus on high-revenue age groups and express-shipping users.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2026-08-09T08:23:20Z</dcterms:created>
  <dcterms:modified xsi:type="dcterms:W3CDTF">2026-08-09T08:23:20Z</dcterms:modified>
</cp:coreProperties>
</file>